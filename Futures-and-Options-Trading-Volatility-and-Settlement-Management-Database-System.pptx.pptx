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Bold" charset="1" panose="02020803070505020304"/>
      <p:regular r:id="rId20"/>
    </p:embeddedFont>
    <p:embeddedFont>
      <p:font typeface="Carlito" charset="1" panose="020F0502020204030204"/>
      <p:regular r:id="rId21"/>
    </p:embeddedFont>
    <p:embeddedFont>
      <p:font typeface="Carlito Bold" charset="1" panose="020F0502020204030204"/>
      <p:regular r:id="rId22"/>
    </p:embeddedFont>
    <p:embeddedFont>
      <p:font typeface="Montserrat Light" charset="1" panose="00000400000000000000"/>
      <p:regular r:id="rId28"/>
    </p:embeddedFont>
    <p:embeddedFont>
      <p:font typeface="Source Sans 3 Bold" charset="1" panose="020B0303030403020204"/>
      <p:regular r:id="rId30"/>
    </p:embeddedFont>
    <p:embeddedFont>
      <p:font typeface="Source Sans 3" charset="1" panose="020B0303030403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4017330" y="-2256032"/>
            <a:ext cx="2306638" cy="9226552"/>
          </a:xfrm>
          <a:custGeom>
            <a:avLst/>
            <a:gdLst/>
            <a:ahLst/>
            <a:cxnLst/>
            <a:rect r="r" b="b" t="t" l="l"/>
            <a:pathLst>
              <a:path h="9226552" w="2306638">
                <a:moveTo>
                  <a:pt x="0" y="0"/>
                </a:moveTo>
                <a:lnTo>
                  <a:pt x="2306638" y="0"/>
                </a:lnTo>
                <a:lnTo>
                  <a:pt x="2306638" y="9226551"/>
                </a:lnTo>
                <a:lnTo>
                  <a:pt x="0" y="922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18587" y="7542940"/>
            <a:ext cx="16140713" cy="1666989"/>
            <a:chOff x="0" y="0"/>
            <a:chExt cx="21520950" cy="22226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20911" cy="2222627"/>
            </a:xfrm>
            <a:custGeom>
              <a:avLst/>
              <a:gdLst/>
              <a:ahLst/>
              <a:cxnLst/>
              <a:rect r="r" b="b" t="t" l="l"/>
              <a:pathLst>
                <a:path h="2222627" w="215209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59189" y="0"/>
                  </a:lnTo>
                  <a:cubicBezTo>
                    <a:pt x="21493353" y="0"/>
                    <a:pt x="21520911" y="27686"/>
                    <a:pt x="21520911" y="61722"/>
                  </a:cubicBezTo>
                  <a:lnTo>
                    <a:pt x="21520911" y="2160905"/>
                  </a:lnTo>
                  <a:cubicBezTo>
                    <a:pt x="21520911" y="2195068"/>
                    <a:pt x="21493226" y="2222627"/>
                    <a:pt x="21459189" y="2222627"/>
                  </a:cubicBezTo>
                  <a:lnTo>
                    <a:pt x="61722" y="2222627"/>
                  </a:lnTo>
                  <a:cubicBezTo>
                    <a:pt x="27559" y="2222627"/>
                    <a:pt x="0" y="2194941"/>
                    <a:pt x="0" y="2160905"/>
                  </a:cubicBezTo>
                  <a:close/>
                </a:path>
              </a:pathLst>
            </a:custGeom>
            <a:solidFill>
              <a:srgbClr val="E4E4E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90302" y="7810610"/>
            <a:ext cx="385905" cy="308762"/>
            <a:chOff x="0" y="0"/>
            <a:chExt cx="514540" cy="41168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514477" cy="411734"/>
            </a:xfrm>
            <a:custGeom>
              <a:avLst/>
              <a:gdLst/>
              <a:ahLst/>
              <a:cxnLst/>
              <a:rect r="r" b="b" t="t" l="l"/>
              <a:pathLst>
                <a:path h="411734" w="514477">
                  <a:moveTo>
                    <a:pt x="0" y="0"/>
                  </a:moveTo>
                  <a:lnTo>
                    <a:pt x="514477" y="0"/>
                  </a:lnTo>
                  <a:lnTo>
                    <a:pt x="514477" y="411734"/>
                  </a:lnTo>
                  <a:lnTo>
                    <a:pt x="0" y="41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9" r="-12" b="-286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-2449286" y="-202000"/>
            <a:ext cx="4898571" cy="4114800"/>
          </a:xfrm>
          <a:custGeom>
            <a:avLst/>
            <a:gdLst/>
            <a:ahLst/>
            <a:cxnLst/>
            <a:rect r="r" b="b" t="t" l="l"/>
            <a:pathLst>
              <a:path h="4114800" w="4898571">
                <a:moveTo>
                  <a:pt x="0" y="0"/>
                </a:moveTo>
                <a:lnTo>
                  <a:pt x="4898572" y="0"/>
                </a:lnTo>
                <a:lnTo>
                  <a:pt x="4898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2150325" y="-2256032"/>
            <a:ext cx="2306638" cy="9226552"/>
          </a:xfrm>
          <a:custGeom>
            <a:avLst/>
            <a:gdLst/>
            <a:ahLst/>
            <a:cxnLst/>
            <a:rect r="r" b="b" t="t" l="l"/>
            <a:pathLst>
              <a:path h="9226552" w="2306638">
                <a:moveTo>
                  <a:pt x="0" y="0"/>
                </a:moveTo>
                <a:lnTo>
                  <a:pt x="2306638" y="0"/>
                </a:lnTo>
                <a:lnTo>
                  <a:pt x="2306638" y="9226551"/>
                </a:lnTo>
                <a:lnTo>
                  <a:pt x="0" y="922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76207" y="1440494"/>
            <a:ext cx="16140713" cy="176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Futures &amp; Options Trading, Volatility and Settlement Management Database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8587" y="4161811"/>
            <a:ext cx="16140713" cy="224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Database Management System Project </a:t>
            </a:r>
          </a:p>
          <a:p>
            <a:pPr algn="l">
              <a:lnSpc>
                <a:spcPts val="4352"/>
              </a:lnSpc>
            </a:pP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b="true" sz="29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Presented by:</a:t>
            </a: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Anand Bhausaheb Harak   </a:t>
            </a:r>
            <a:r>
              <a:rPr lang="en-US" b="true" sz="29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Roll No.:</a:t>
            </a: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P06 </a:t>
            </a:r>
          </a:p>
          <a:p>
            <a:pPr algn="l">
              <a:lnSpc>
                <a:spcPts val="4352"/>
              </a:lnSpc>
            </a:pP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b="true" sz="29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Class:</a:t>
            </a: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T.Y. B.Tech CSE (Data Science)   </a:t>
            </a:r>
            <a:r>
              <a:rPr lang="en-US" b="true" sz="29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Subject:</a:t>
            </a: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Database Management Systems </a:t>
            </a:r>
          </a:p>
          <a:p>
            <a:pPr algn="l">
              <a:lnSpc>
                <a:spcPts val="4352"/>
              </a:lnSpc>
            </a:pP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b="true" sz="29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RDBMS:</a:t>
            </a: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MySQL   </a:t>
            </a:r>
            <a:r>
              <a:rPr lang="en-US" b="true" sz="29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Academic Year:</a:t>
            </a:r>
            <a:r>
              <a:rPr lang="en-US" sz="29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2026–27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01407" y="7850691"/>
            <a:ext cx="14828539" cy="93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A relational database to manage F&amp;O contracts, prices, volatility and settlement workflows using NSE datasets. Data cleaned with Python; loaded and analyzed in MySQL.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2757851" y="-962646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1399811" y="91545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6" y="0"/>
                </a:lnTo>
                <a:lnTo>
                  <a:pt x="3209176" y="2695708"/>
                </a:lnTo>
                <a:lnTo>
                  <a:pt x="0" y="2695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5376649" y="-962646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0564" y="1391774"/>
            <a:ext cx="7221021" cy="67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b="true" sz="4128" spc="-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&amp; Objectives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564" y="2992939"/>
            <a:ext cx="659959" cy="659968"/>
            <a:chOff x="0" y="0"/>
            <a:chExt cx="879945" cy="8799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983" cy="879983"/>
            </a:xfrm>
            <a:custGeom>
              <a:avLst/>
              <a:gdLst/>
              <a:ahLst/>
              <a:cxnLst/>
              <a:rect r="r" b="b" t="t" l="l"/>
              <a:pathLst>
                <a:path h="879983" w="879983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821309" y="0"/>
                  </a:lnTo>
                  <a:cubicBezTo>
                    <a:pt x="853694" y="0"/>
                    <a:pt x="879983" y="26289"/>
                    <a:pt x="879983" y="58674"/>
                  </a:cubicBezTo>
                  <a:lnTo>
                    <a:pt x="879983" y="821309"/>
                  </a:lnTo>
                  <a:cubicBezTo>
                    <a:pt x="879983" y="853694"/>
                    <a:pt x="853694" y="879983"/>
                    <a:pt x="821309" y="879983"/>
                  </a:cubicBezTo>
                  <a:lnTo>
                    <a:pt x="58674" y="879983"/>
                  </a:lnTo>
                  <a:cubicBezTo>
                    <a:pt x="26289" y="879983"/>
                    <a:pt x="0" y="853694"/>
                    <a:pt x="0" y="821309"/>
                  </a:cubicBezTo>
                  <a:close/>
                </a:path>
              </a:pathLst>
            </a:custGeom>
            <a:solidFill>
              <a:srgbClr val="E7CAA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19867" y="3056321"/>
            <a:ext cx="1393508" cy="4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0522" y="3821837"/>
            <a:ext cx="4209517" cy="207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NSE F&amp;O datasets contain raw prices, contracts, trading activity and volatility metrics that need structured processing before analysis.   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9867" y="6034538"/>
            <a:ext cx="4209517" cy="289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Heterogeneous raw data needing cleaning &amp; standardization</a:t>
            </a:r>
          </a:p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Multiple related datasets must map to normalized tables</a:t>
            </a:r>
          </a:p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Integrity, performance and maintainability are essential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79070" y="2892098"/>
            <a:ext cx="659959" cy="659968"/>
            <a:chOff x="0" y="0"/>
            <a:chExt cx="879945" cy="8799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9983" cy="879983"/>
            </a:xfrm>
            <a:custGeom>
              <a:avLst/>
              <a:gdLst/>
              <a:ahLst/>
              <a:cxnLst/>
              <a:rect r="r" b="b" t="t" l="l"/>
              <a:pathLst>
                <a:path h="879983" w="879983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821309" y="0"/>
                  </a:lnTo>
                  <a:cubicBezTo>
                    <a:pt x="853694" y="0"/>
                    <a:pt x="879983" y="26289"/>
                    <a:pt x="879983" y="58674"/>
                  </a:cubicBezTo>
                  <a:lnTo>
                    <a:pt x="879983" y="821309"/>
                  </a:lnTo>
                  <a:cubicBezTo>
                    <a:pt x="879983" y="853694"/>
                    <a:pt x="853694" y="879983"/>
                    <a:pt x="821309" y="879983"/>
                  </a:cubicBezTo>
                  <a:lnTo>
                    <a:pt x="58674" y="879983"/>
                  </a:lnTo>
                  <a:cubicBezTo>
                    <a:pt x="26289" y="879983"/>
                    <a:pt x="0" y="853694"/>
                    <a:pt x="0" y="821309"/>
                  </a:cubicBezTo>
                  <a:close/>
                </a:path>
              </a:pathLst>
            </a:custGeom>
            <a:solidFill>
              <a:srgbClr val="E7CAA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515254" y="3005887"/>
            <a:ext cx="1704737" cy="4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15670" y="3821837"/>
            <a:ext cx="4209659" cy="330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Clean raw F&amp;O data using Python pipelines</a:t>
            </a:r>
          </a:p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Design normalized MySQL schema (fno_tae2_db)</a:t>
            </a:r>
          </a:p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Load data into four related tables with constraints</a:t>
            </a:r>
          </a:p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Implement views, procedures, triggers and optimized queries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3138" y="2841664"/>
            <a:ext cx="659959" cy="659968"/>
            <a:chOff x="0" y="0"/>
            <a:chExt cx="879945" cy="8799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9983" cy="879983"/>
            </a:xfrm>
            <a:custGeom>
              <a:avLst/>
              <a:gdLst/>
              <a:ahLst/>
              <a:cxnLst/>
              <a:rect r="r" b="b" t="t" l="l"/>
              <a:pathLst>
                <a:path h="879983" w="879983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821309" y="0"/>
                  </a:lnTo>
                  <a:cubicBezTo>
                    <a:pt x="853694" y="0"/>
                    <a:pt x="879983" y="26289"/>
                    <a:pt x="879983" y="58674"/>
                  </a:cubicBezTo>
                  <a:lnTo>
                    <a:pt x="879983" y="821309"/>
                  </a:lnTo>
                  <a:cubicBezTo>
                    <a:pt x="879983" y="853694"/>
                    <a:pt x="853694" y="879983"/>
                    <a:pt x="821309" y="879983"/>
                  </a:cubicBezTo>
                  <a:lnTo>
                    <a:pt x="58674" y="879983"/>
                  </a:lnTo>
                  <a:cubicBezTo>
                    <a:pt x="26289" y="879983"/>
                    <a:pt x="0" y="853694"/>
                    <a:pt x="0" y="821309"/>
                  </a:cubicBezTo>
                  <a:close/>
                </a:path>
              </a:pathLst>
            </a:custGeom>
            <a:solidFill>
              <a:srgbClr val="E7CAA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011617" y="2954839"/>
            <a:ext cx="1884164" cy="4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Bottom 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11617" y="3812312"/>
            <a:ext cx="4450133" cy="393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5"/>
              </a:lnSpc>
            </a:pPr>
            <a:r>
              <a:rPr lang="en-US" b="true" sz="238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Raw Data →</a:t>
            </a:r>
          </a:p>
          <a:p>
            <a:pPr algn="l">
              <a:lnSpc>
                <a:spcPts val="3485"/>
              </a:lnSpc>
            </a:pPr>
          </a:p>
          <a:p>
            <a:pPr algn="l">
              <a:lnSpc>
                <a:spcPts val="3485"/>
              </a:lnSpc>
            </a:pPr>
            <a:r>
              <a:rPr lang="en-US" b="true" sz="238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Clean Data →</a:t>
            </a:r>
          </a:p>
          <a:p>
            <a:pPr algn="l">
              <a:lnSpc>
                <a:spcPts val="3485"/>
              </a:lnSpc>
            </a:pPr>
            <a:r>
              <a:rPr lang="en-US" b="true" sz="238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</a:t>
            </a:r>
          </a:p>
          <a:p>
            <a:pPr algn="l">
              <a:lnSpc>
                <a:spcPts val="3485"/>
              </a:lnSpc>
            </a:pPr>
            <a:r>
              <a:rPr lang="en-US" b="true" sz="238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Relational Database →</a:t>
            </a:r>
          </a:p>
          <a:p>
            <a:pPr algn="l">
              <a:lnSpc>
                <a:spcPts val="3485"/>
              </a:lnSpc>
            </a:pPr>
          </a:p>
          <a:p>
            <a:pPr algn="l">
              <a:lnSpc>
                <a:spcPts val="3485"/>
              </a:lnSpc>
            </a:pPr>
            <a:r>
              <a:rPr lang="en-US" b="true" sz="238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SQL Analysis → </a:t>
            </a:r>
          </a:p>
          <a:p>
            <a:pPr algn="l">
              <a:lnSpc>
                <a:spcPts val="3485"/>
              </a:lnSpc>
            </a:pPr>
          </a:p>
          <a:p>
            <a:pPr algn="l">
              <a:lnSpc>
                <a:spcPts val="3485"/>
              </a:lnSpc>
            </a:pPr>
            <a:r>
              <a:rPr lang="en-US" b="true" sz="238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Optimization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2797200" y="-1355755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1391646" y="-319154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6" y="0"/>
                </a:lnTo>
                <a:lnTo>
                  <a:pt x="3209176" y="2695708"/>
                </a:lnTo>
                <a:lnTo>
                  <a:pt x="0" y="2695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7125974" y="-1355755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454748" y="-1355755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80564" y="872109"/>
            <a:ext cx="12750641" cy="73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2"/>
              </a:lnSpc>
            </a:pPr>
            <a:r>
              <a:rPr lang="en-US" b="true" sz="4553" spc="-4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Workflow — From Raw Dataset to Database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32133" y="2586266"/>
            <a:ext cx="15623734" cy="5862904"/>
            <a:chOff x="0" y="0"/>
            <a:chExt cx="20831645" cy="781720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0831683" cy="7817231"/>
            </a:xfrm>
            <a:custGeom>
              <a:avLst/>
              <a:gdLst/>
              <a:ahLst/>
              <a:cxnLst/>
              <a:rect r="r" b="b" t="t" l="l"/>
              <a:pathLst>
                <a:path h="7817231" w="20831683">
                  <a:moveTo>
                    <a:pt x="0" y="0"/>
                  </a:moveTo>
                  <a:lnTo>
                    <a:pt x="20831683" y="0"/>
                  </a:lnTo>
                  <a:lnTo>
                    <a:pt x="20831683" y="7817231"/>
                  </a:lnTo>
                  <a:lnTo>
                    <a:pt x="0" y="7817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7" r="0" b="-4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1040" y="6661147"/>
            <a:ext cx="1720096" cy="4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Load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92945" y="6454845"/>
            <a:ext cx="2356533" cy="9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Schema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14332" y="6661147"/>
            <a:ext cx="1806297" cy="4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Clean CSV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61876" y="6661147"/>
            <a:ext cx="2203728" cy="4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 Clean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7490" y="6661147"/>
            <a:ext cx="1615916" cy="4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3051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Raw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0564" y="8315820"/>
            <a:ext cx="16140713" cy="105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7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This pipeline ensures reproducible ingestion, validated relational modeling and performance-tuned analysis for F&amp;O research and reporting.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2505788" y="-1268104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6"/>
                </a:lnTo>
                <a:lnTo>
                  <a:pt x="0" y="523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1250789" y="-319154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5" y="0"/>
                </a:lnTo>
                <a:lnTo>
                  <a:pt x="3209175" y="2695708"/>
                </a:lnTo>
                <a:lnTo>
                  <a:pt x="0" y="2695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5877423" y="-1289975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0934" y="927642"/>
            <a:ext cx="7473315" cy="79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b="true" sz="4953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Cleaning Using 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564" y="2281618"/>
            <a:ext cx="7693685" cy="139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The Python cleaning script converts noisy NSE F&amp;O raw files into structured CSVs ready for SQL ingestion. Emphasis: correctness and auditability — no fabricated market values.  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564" y="3929558"/>
            <a:ext cx="7693685" cy="548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1240" indent="-235620" lvl="1">
              <a:lnSpc>
                <a:spcPts val="3902"/>
              </a:lnSpc>
              <a:buFont typeface="Arial"/>
              <a:buChar char="•"/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Header &amp; value trimming; standardized column names</a:t>
            </a:r>
          </a:p>
          <a:p>
            <a:pPr algn="l" marL="471240" indent="-235620" lvl="1">
              <a:lnSpc>
                <a:spcPts val="3902"/>
              </a:lnSpc>
              <a:buFont typeface="Arial"/>
              <a:buChar char="•"/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Consistent missing-value tokens (NaN/NULL/N/A/- → NULL)</a:t>
            </a:r>
          </a:p>
          <a:p>
            <a:pPr algn="l" marL="471240" indent="-235620" lvl="1">
              <a:lnSpc>
                <a:spcPts val="3902"/>
              </a:lnSpc>
              <a:buFont typeface="Arial"/>
              <a:buChar char="•"/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Date standardization: EXP_DATE → YYYY-MM-DD</a:t>
            </a:r>
          </a:p>
          <a:p>
            <a:pPr algn="l" marL="471240" indent="-235620" lvl="1">
              <a:lnSpc>
                <a:spcPts val="3902"/>
              </a:lnSpc>
              <a:buFont typeface="Arial"/>
              <a:buChar char="•"/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Numeric validation for prices, OI, trade counts and values</a:t>
            </a:r>
          </a:p>
          <a:p>
            <a:pPr algn="l" marL="471240" indent="-235620" lvl="1">
              <a:lnSpc>
                <a:spcPts val="3902"/>
              </a:lnSpc>
              <a:buFont typeface="Arial"/>
              <a:buChar char="•"/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Drop records missing SYMBOL or EXP_DATE; remove duplicates</a:t>
            </a:r>
          </a:p>
          <a:p>
            <a:pPr algn="l" marL="471240" indent="-235620" lvl="1">
              <a:lnSpc>
                <a:spcPts val="3902"/>
              </a:lnSpc>
              <a:buFont typeface="Arial"/>
              <a:buChar char="•"/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OHLC sanity checks (Open ≤ High, Low ≤ Close where applicable)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8056" y="2446411"/>
            <a:ext cx="3730514" cy="3794655"/>
            <a:chOff x="0" y="0"/>
            <a:chExt cx="4974018" cy="5059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73955" cy="5059553"/>
            </a:xfrm>
            <a:custGeom>
              <a:avLst/>
              <a:gdLst/>
              <a:ahLst/>
              <a:cxnLst/>
              <a:rect r="r" b="b" t="t" l="l"/>
              <a:pathLst>
                <a:path h="5059553" w="4973955">
                  <a:moveTo>
                    <a:pt x="0" y="62357"/>
                  </a:moveTo>
                  <a:cubicBezTo>
                    <a:pt x="0" y="27940"/>
                    <a:pt x="27940" y="0"/>
                    <a:pt x="62357" y="0"/>
                  </a:cubicBezTo>
                  <a:lnTo>
                    <a:pt x="4911598" y="0"/>
                  </a:lnTo>
                  <a:cubicBezTo>
                    <a:pt x="4946015" y="0"/>
                    <a:pt x="4973955" y="27940"/>
                    <a:pt x="4973955" y="62357"/>
                  </a:cubicBezTo>
                  <a:lnTo>
                    <a:pt x="4973955" y="4997196"/>
                  </a:lnTo>
                  <a:cubicBezTo>
                    <a:pt x="4973955" y="5031613"/>
                    <a:pt x="4946015" y="5059553"/>
                    <a:pt x="4911598" y="5059553"/>
                  </a:cubicBezTo>
                  <a:lnTo>
                    <a:pt x="62357" y="5059553"/>
                  </a:lnTo>
                  <a:cubicBezTo>
                    <a:pt x="27940" y="5059553"/>
                    <a:pt x="0" y="5031613"/>
                    <a:pt x="0" y="4997196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AC9999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884007" y="2774271"/>
            <a:ext cx="2575679" cy="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b="true" sz="3002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 artifacts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84007" y="3426419"/>
            <a:ext cx="2998622" cy="251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Cleaned CSVs, validation logs, and populate.py which emits data.sql for MySQL load.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519204" y="2446411"/>
            <a:ext cx="3730666" cy="3794655"/>
            <a:chOff x="0" y="0"/>
            <a:chExt cx="4974222" cy="50595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74209" cy="5059553"/>
            </a:xfrm>
            <a:custGeom>
              <a:avLst/>
              <a:gdLst/>
              <a:ahLst/>
              <a:cxnLst/>
              <a:rect r="r" b="b" t="t" l="l"/>
              <a:pathLst>
                <a:path h="5059553" w="4974209">
                  <a:moveTo>
                    <a:pt x="0" y="62357"/>
                  </a:moveTo>
                  <a:cubicBezTo>
                    <a:pt x="0" y="27940"/>
                    <a:pt x="27940" y="0"/>
                    <a:pt x="62357" y="0"/>
                  </a:cubicBezTo>
                  <a:lnTo>
                    <a:pt x="4911852" y="0"/>
                  </a:lnTo>
                  <a:cubicBezTo>
                    <a:pt x="4946269" y="0"/>
                    <a:pt x="4974209" y="27940"/>
                    <a:pt x="4974209" y="62357"/>
                  </a:cubicBezTo>
                  <a:lnTo>
                    <a:pt x="4974209" y="4997196"/>
                  </a:lnTo>
                  <a:cubicBezTo>
                    <a:pt x="4974209" y="5031613"/>
                    <a:pt x="4946269" y="5059553"/>
                    <a:pt x="4911852" y="5059553"/>
                  </a:cubicBezTo>
                  <a:lnTo>
                    <a:pt x="62357" y="5059553"/>
                  </a:lnTo>
                  <a:cubicBezTo>
                    <a:pt x="27940" y="5059553"/>
                    <a:pt x="0" y="5031613"/>
                    <a:pt x="0" y="4997196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AC9999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885154" y="2774271"/>
            <a:ext cx="1448038" cy="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b="true" sz="3002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Principle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85154" y="3426419"/>
            <a:ext cx="2998775" cy="251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No imputation of missing market values; keep data provenance traceable.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5424383" y="-851899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2805585" y="-833857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6"/>
                </a:lnTo>
                <a:lnTo>
                  <a:pt x="0" y="523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3445" y="1299269"/>
            <a:ext cx="7239834" cy="79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b="true" sz="4953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 Design &amp; Schema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1487" y="3021691"/>
            <a:ext cx="6448987" cy="896084"/>
            <a:chOff x="0" y="0"/>
            <a:chExt cx="8598649" cy="1194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98662" cy="1194767"/>
            </a:xfrm>
            <a:custGeom>
              <a:avLst/>
              <a:gdLst/>
              <a:ahLst/>
              <a:cxnLst/>
              <a:rect r="r" b="b" t="t" l="l"/>
              <a:pathLst>
                <a:path h="1194767" w="8598662">
                  <a:moveTo>
                    <a:pt x="0" y="30522"/>
                  </a:moveTo>
                  <a:cubicBezTo>
                    <a:pt x="0" y="13691"/>
                    <a:pt x="27686" y="0"/>
                    <a:pt x="61722" y="0"/>
                  </a:cubicBezTo>
                  <a:lnTo>
                    <a:pt x="8536940" y="0"/>
                  </a:lnTo>
                  <a:cubicBezTo>
                    <a:pt x="8571103" y="0"/>
                    <a:pt x="8598662" y="13691"/>
                    <a:pt x="8598662" y="30522"/>
                  </a:cubicBezTo>
                  <a:lnTo>
                    <a:pt x="8598662" y="1164244"/>
                  </a:lnTo>
                  <a:cubicBezTo>
                    <a:pt x="8598662" y="1181138"/>
                    <a:pt x="8570976" y="1194767"/>
                    <a:pt x="8536940" y="1194767"/>
                  </a:cubicBezTo>
                  <a:lnTo>
                    <a:pt x="61722" y="1194767"/>
                  </a:lnTo>
                  <a:cubicBezTo>
                    <a:pt x="27559" y="1194767"/>
                    <a:pt x="0" y="1181076"/>
                    <a:pt x="0" y="1164244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19140" y="3209252"/>
            <a:ext cx="6746567" cy="41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076">
                <a:solidFill>
                  <a:srgbClr val="F2F2F2"/>
                </a:solidFill>
                <a:latin typeface="Carlito"/>
                <a:ea typeface="Carlito"/>
                <a:cs typeface="Carlito"/>
                <a:sym typeface="Carlito"/>
              </a:rPr>
              <a:t>Four core tables with enforced referential integrity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47686" y="2935948"/>
            <a:ext cx="9382973" cy="152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Integrity constraints: PRIMARY KEY, FOREIGN KEY (with CASCADE where appropriate), NOT NULL, UNIQUE and CHECK for volatility ranges.    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9140" y="4950914"/>
            <a:ext cx="694506" cy="771677"/>
            <a:chOff x="0" y="0"/>
            <a:chExt cx="926008" cy="10289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6084" cy="1028954"/>
            </a:xfrm>
            <a:custGeom>
              <a:avLst/>
              <a:gdLst/>
              <a:ahLst/>
              <a:cxnLst/>
              <a:rect r="r" b="b" t="t" l="l"/>
              <a:pathLst>
                <a:path h="1028954" w="92608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834517" y="0"/>
                  </a:lnTo>
                  <a:cubicBezTo>
                    <a:pt x="885063" y="0"/>
                    <a:pt x="926084" y="41021"/>
                    <a:pt x="926084" y="91567"/>
                  </a:cubicBezTo>
                  <a:lnTo>
                    <a:pt x="926084" y="937387"/>
                  </a:lnTo>
                  <a:cubicBezTo>
                    <a:pt x="926084" y="987933"/>
                    <a:pt x="885063" y="1028954"/>
                    <a:pt x="834517" y="1028954"/>
                  </a:cubicBezTo>
                  <a:lnTo>
                    <a:pt x="91567" y="1028954"/>
                  </a:lnTo>
                  <a:cubicBezTo>
                    <a:pt x="41021" y="1028954"/>
                    <a:pt x="0" y="987933"/>
                    <a:pt x="0" y="937387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73445" y="5159140"/>
            <a:ext cx="385905" cy="308762"/>
            <a:chOff x="0" y="0"/>
            <a:chExt cx="514540" cy="41168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14477" cy="411734"/>
            </a:xfrm>
            <a:custGeom>
              <a:avLst/>
              <a:gdLst/>
              <a:ahLst/>
              <a:cxnLst/>
              <a:rect r="r" b="b" t="t" l="l"/>
              <a:pathLst>
                <a:path h="411734" w="514477">
                  <a:moveTo>
                    <a:pt x="0" y="0"/>
                  </a:moveTo>
                  <a:lnTo>
                    <a:pt x="514477" y="0"/>
                  </a:lnTo>
                  <a:lnTo>
                    <a:pt x="514477" y="411734"/>
                  </a:lnTo>
                  <a:lnTo>
                    <a:pt x="0" y="41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9" r="-12" b="-28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238280" y="4912814"/>
            <a:ext cx="3139321" cy="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b="true" sz="3002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data1 — Price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38280" y="5441347"/>
            <a:ext cx="6719611" cy="102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Underlying &amp; futures price records; primary key data1_id.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82373" y="4950914"/>
            <a:ext cx="694506" cy="771677"/>
            <a:chOff x="0" y="0"/>
            <a:chExt cx="926008" cy="10289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6084" cy="1028954"/>
            </a:xfrm>
            <a:custGeom>
              <a:avLst/>
              <a:gdLst/>
              <a:ahLst/>
              <a:cxnLst/>
              <a:rect r="r" b="b" t="t" l="l"/>
              <a:pathLst>
                <a:path h="1028954" w="92608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834517" y="0"/>
                  </a:lnTo>
                  <a:cubicBezTo>
                    <a:pt x="885063" y="0"/>
                    <a:pt x="926084" y="41021"/>
                    <a:pt x="926084" y="91567"/>
                  </a:cubicBezTo>
                  <a:lnTo>
                    <a:pt x="926084" y="937387"/>
                  </a:lnTo>
                  <a:cubicBezTo>
                    <a:pt x="926084" y="987933"/>
                    <a:pt x="885063" y="1028954"/>
                    <a:pt x="834517" y="1028954"/>
                  </a:cubicBezTo>
                  <a:lnTo>
                    <a:pt x="91567" y="1028954"/>
                  </a:lnTo>
                  <a:cubicBezTo>
                    <a:pt x="41021" y="1028954"/>
                    <a:pt x="0" y="987933"/>
                    <a:pt x="0" y="937387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36678" y="5159140"/>
            <a:ext cx="385905" cy="308762"/>
            <a:chOff x="0" y="0"/>
            <a:chExt cx="514540" cy="411683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14477" cy="411734"/>
            </a:xfrm>
            <a:custGeom>
              <a:avLst/>
              <a:gdLst/>
              <a:ahLst/>
              <a:cxnLst/>
              <a:rect r="r" b="b" t="t" l="l"/>
              <a:pathLst>
                <a:path h="411734" w="514477">
                  <a:moveTo>
                    <a:pt x="0" y="0"/>
                  </a:moveTo>
                  <a:lnTo>
                    <a:pt x="514477" y="0"/>
                  </a:lnTo>
                  <a:lnTo>
                    <a:pt x="514477" y="411734"/>
                  </a:lnTo>
                  <a:lnTo>
                    <a:pt x="0" y="41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9" r="-12" b="-286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501513" y="4912814"/>
            <a:ext cx="4252317" cy="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b="true" sz="3002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data2 — Volatility Metrics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01513" y="5441347"/>
            <a:ext cx="6719764" cy="102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Calculated volatility values linked to data1_id (one-to-one).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19140" y="7118356"/>
            <a:ext cx="694506" cy="771677"/>
            <a:chOff x="0" y="0"/>
            <a:chExt cx="926008" cy="10289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6084" cy="1028954"/>
            </a:xfrm>
            <a:custGeom>
              <a:avLst/>
              <a:gdLst/>
              <a:ahLst/>
              <a:cxnLst/>
              <a:rect r="r" b="b" t="t" l="l"/>
              <a:pathLst>
                <a:path h="1028954" w="92608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834517" y="0"/>
                  </a:lnTo>
                  <a:cubicBezTo>
                    <a:pt x="885063" y="0"/>
                    <a:pt x="926084" y="41021"/>
                    <a:pt x="926084" y="91567"/>
                  </a:cubicBezTo>
                  <a:lnTo>
                    <a:pt x="926084" y="937387"/>
                  </a:lnTo>
                  <a:cubicBezTo>
                    <a:pt x="926084" y="987933"/>
                    <a:pt x="885063" y="1028954"/>
                    <a:pt x="834517" y="1028954"/>
                  </a:cubicBezTo>
                  <a:lnTo>
                    <a:pt x="91567" y="1028954"/>
                  </a:lnTo>
                  <a:cubicBezTo>
                    <a:pt x="41021" y="1028954"/>
                    <a:pt x="0" y="987933"/>
                    <a:pt x="0" y="937387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73445" y="7326582"/>
            <a:ext cx="385905" cy="308762"/>
            <a:chOff x="0" y="0"/>
            <a:chExt cx="514540" cy="411683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514477" cy="411734"/>
            </a:xfrm>
            <a:custGeom>
              <a:avLst/>
              <a:gdLst/>
              <a:ahLst/>
              <a:cxnLst/>
              <a:rect r="r" b="b" t="t" l="l"/>
              <a:pathLst>
                <a:path h="411734" w="514477">
                  <a:moveTo>
                    <a:pt x="0" y="0"/>
                  </a:moveTo>
                  <a:lnTo>
                    <a:pt x="514477" y="0"/>
                  </a:lnTo>
                  <a:lnTo>
                    <a:pt x="514477" y="411734"/>
                  </a:lnTo>
                  <a:lnTo>
                    <a:pt x="0" y="41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9" r="-12" b="-286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238280" y="7080256"/>
            <a:ext cx="4687372" cy="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b="true" sz="3002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data3 — Contract &amp; Trading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38280" y="7608789"/>
            <a:ext cx="6719611" cy="102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Derivative contract details, trade counts, trade_value; primary key data3_id.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82373" y="7118356"/>
            <a:ext cx="694506" cy="771677"/>
            <a:chOff x="0" y="0"/>
            <a:chExt cx="926008" cy="10289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6084" cy="1028954"/>
            </a:xfrm>
            <a:custGeom>
              <a:avLst/>
              <a:gdLst/>
              <a:ahLst/>
              <a:cxnLst/>
              <a:rect r="r" b="b" t="t" l="l"/>
              <a:pathLst>
                <a:path h="1028954" w="92608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834517" y="0"/>
                  </a:lnTo>
                  <a:cubicBezTo>
                    <a:pt x="885063" y="0"/>
                    <a:pt x="926084" y="41021"/>
                    <a:pt x="926084" y="91567"/>
                  </a:cubicBezTo>
                  <a:lnTo>
                    <a:pt x="926084" y="937387"/>
                  </a:lnTo>
                  <a:cubicBezTo>
                    <a:pt x="926084" y="987933"/>
                    <a:pt x="885063" y="1028954"/>
                    <a:pt x="834517" y="1028954"/>
                  </a:cubicBezTo>
                  <a:lnTo>
                    <a:pt x="91567" y="1028954"/>
                  </a:lnTo>
                  <a:cubicBezTo>
                    <a:pt x="41021" y="1028954"/>
                    <a:pt x="0" y="987933"/>
                    <a:pt x="0" y="937387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536678" y="7326582"/>
            <a:ext cx="385905" cy="308762"/>
            <a:chOff x="0" y="0"/>
            <a:chExt cx="514540" cy="411683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14477" cy="411734"/>
            </a:xfrm>
            <a:custGeom>
              <a:avLst/>
              <a:gdLst/>
              <a:ahLst/>
              <a:cxnLst/>
              <a:rect r="r" b="b" t="t" l="l"/>
              <a:pathLst>
                <a:path h="411734" w="514477">
                  <a:moveTo>
                    <a:pt x="0" y="0"/>
                  </a:moveTo>
                  <a:lnTo>
                    <a:pt x="514477" y="0"/>
                  </a:lnTo>
                  <a:lnTo>
                    <a:pt x="514477" y="411734"/>
                  </a:lnTo>
                  <a:lnTo>
                    <a:pt x="0" y="41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9" r="-12" b="-286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501513" y="7080256"/>
            <a:ext cx="4306610" cy="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b="true" sz="3002" spc="-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data4 — Derivative OHLC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01513" y="7608789"/>
            <a:ext cx="6719764" cy="102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OHLC pricing per contract linked to data3_id (one-to-one) with audit trail support.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-5400000">
            <a:off x="-1293091" y="69249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5" y="0"/>
                </a:lnTo>
                <a:lnTo>
                  <a:pt x="3209175" y="2695708"/>
                </a:lnTo>
                <a:lnTo>
                  <a:pt x="0" y="2695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2497860" y="-1016192"/>
            <a:ext cx="1309399" cy="5237595"/>
          </a:xfrm>
          <a:custGeom>
            <a:avLst/>
            <a:gdLst/>
            <a:ahLst/>
            <a:cxnLst/>
            <a:rect r="r" b="b" t="t" l="l"/>
            <a:pathLst>
              <a:path h="5237595" w="1309399">
                <a:moveTo>
                  <a:pt x="0" y="0"/>
                </a:moveTo>
                <a:lnTo>
                  <a:pt x="1309399" y="0"/>
                </a:lnTo>
                <a:lnTo>
                  <a:pt x="1309399" y="5237595"/>
                </a:lnTo>
                <a:lnTo>
                  <a:pt x="0" y="523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1355435" y="-32560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5" y="0"/>
                </a:lnTo>
                <a:lnTo>
                  <a:pt x="3209175" y="2695707"/>
                </a:lnTo>
                <a:lnTo>
                  <a:pt x="0" y="26957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6696833" y="-1070073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19" y="0"/>
                </a:lnTo>
                <a:lnTo>
                  <a:pt x="1345319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8272894" y="-1088033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19" y="0"/>
                </a:lnTo>
                <a:lnTo>
                  <a:pt x="1345319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9317" y="1176158"/>
            <a:ext cx="9297007" cy="7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2"/>
              </a:lnSpc>
            </a:pPr>
            <a:r>
              <a:rPr lang="en-US" b="true" sz="4898" spc="-4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Normalization: 1NF → 2NF → 3NF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0564" y="3470262"/>
            <a:ext cx="617506" cy="385915"/>
            <a:chOff x="0" y="0"/>
            <a:chExt cx="823341" cy="5145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3345" cy="514554"/>
            </a:xfrm>
            <a:custGeom>
              <a:avLst/>
              <a:gdLst/>
              <a:ahLst/>
              <a:cxnLst/>
              <a:rect r="r" b="b" t="t" l="l"/>
              <a:pathLst>
                <a:path h="514554" w="823345">
                  <a:moveTo>
                    <a:pt x="0" y="0"/>
                  </a:moveTo>
                  <a:lnTo>
                    <a:pt x="823345" y="0"/>
                  </a:lnTo>
                  <a:lnTo>
                    <a:pt x="823345" y="514554"/>
                  </a:lnTo>
                  <a:lnTo>
                    <a:pt x="0" y="51455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84" t="0" r="-3018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823341" cy="505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spc="-24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0564" y="3956856"/>
            <a:ext cx="5174351" cy="38129"/>
            <a:chOff x="0" y="0"/>
            <a:chExt cx="6899135" cy="508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99148" cy="50800"/>
            </a:xfrm>
            <a:custGeom>
              <a:avLst/>
              <a:gdLst/>
              <a:ahLst/>
              <a:cxnLst/>
              <a:rect r="r" b="b" t="t" l="l"/>
              <a:pathLst>
                <a:path h="50800" w="6899148">
                  <a:moveTo>
                    <a:pt x="0" y="0"/>
                  </a:moveTo>
                  <a:lnTo>
                    <a:pt x="6899148" y="0"/>
                  </a:lnTo>
                  <a:lnTo>
                    <a:pt x="689914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80564" y="4158853"/>
            <a:ext cx="2540437" cy="43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1NF — Atomicity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0564" y="4696901"/>
            <a:ext cx="4587191" cy="139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Each column holds single (atomic) values: one symbol / trade date / OHLC per row.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63668" y="3470262"/>
            <a:ext cx="617506" cy="385915"/>
            <a:chOff x="0" y="0"/>
            <a:chExt cx="823341" cy="5145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3345" cy="514554"/>
            </a:xfrm>
            <a:custGeom>
              <a:avLst/>
              <a:gdLst/>
              <a:ahLst/>
              <a:cxnLst/>
              <a:rect r="r" b="b" t="t" l="l"/>
              <a:pathLst>
                <a:path h="514554" w="823345">
                  <a:moveTo>
                    <a:pt x="0" y="0"/>
                  </a:moveTo>
                  <a:lnTo>
                    <a:pt x="823345" y="0"/>
                  </a:lnTo>
                  <a:lnTo>
                    <a:pt x="823345" y="514554"/>
                  </a:lnTo>
                  <a:lnTo>
                    <a:pt x="0" y="51455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84" t="0" r="-3018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823341" cy="505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spc="-24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63668" y="3956856"/>
            <a:ext cx="5174351" cy="38129"/>
            <a:chOff x="0" y="0"/>
            <a:chExt cx="6899135" cy="508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99148" cy="50800"/>
            </a:xfrm>
            <a:custGeom>
              <a:avLst/>
              <a:gdLst/>
              <a:ahLst/>
              <a:cxnLst/>
              <a:rect r="r" b="b" t="t" l="l"/>
              <a:pathLst>
                <a:path h="50800" w="6899148">
                  <a:moveTo>
                    <a:pt x="0" y="0"/>
                  </a:moveTo>
                  <a:lnTo>
                    <a:pt x="6899148" y="0"/>
                  </a:lnTo>
                  <a:lnTo>
                    <a:pt x="689914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563668" y="4158853"/>
            <a:ext cx="5174351" cy="85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2NF — Eliminate Partial Dependencies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63668" y="5135547"/>
            <a:ext cx="5174351" cy="185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Non-key attributes stored with the table whose primary key they depend on (data2 linked to data1_id; data4 linked to data3_id).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46772" y="3470262"/>
            <a:ext cx="617506" cy="385915"/>
            <a:chOff x="0" y="0"/>
            <a:chExt cx="823341" cy="5145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3345" cy="514554"/>
            </a:xfrm>
            <a:custGeom>
              <a:avLst/>
              <a:gdLst/>
              <a:ahLst/>
              <a:cxnLst/>
              <a:rect r="r" b="b" t="t" l="l"/>
              <a:pathLst>
                <a:path h="514554" w="823345">
                  <a:moveTo>
                    <a:pt x="0" y="0"/>
                  </a:moveTo>
                  <a:lnTo>
                    <a:pt x="823345" y="0"/>
                  </a:lnTo>
                  <a:lnTo>
                    <a:pt x="823345" y="514554"/>
                  </a:lnTo>
                  <a:lnTo>
                    <a:pt x="0" y="51455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84" t="0" r="-3018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23341" cy="505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spc="-24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46772" y="3956856"/>
            <a:ext cx="5174351" cy="38129"/>
            <a:chOff x="0" y="0"/>
            <a:chExt cx="6899135" cy="508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99148" cy="50800"/>
            </a:xfrm>
            <a:custGeom>
              <a:avLst/>
              <a:gdLst/>
              <a:ahLst/>
              <a:cxnLst/>
              <a:rect r="r" b="b" t="t" l="l"/>
              <a:pathLst>
                <a:path h="50800" w="6899148">
                  <a:moveTo>
                    <a:pt x="0" y="0"/>
                  </a:moveTo>
                  <a:lnTo>
                    <a:pt x="6899148" y="0"/>
                  </a:lnTo>
                  <a:lnTo>
                    <a:pt x="689914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046772" y="4158853"/>
            <a:ext cx="5174351" cy="85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3NF — Remove Transitive Dependencies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46772" y="5135547"/>
            <a:ext cx="5174351" cy="185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No attribute depends on non-key attributes; facts separated into data1–data4 to reduce redundancy and improve integrity.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0564" y="7566622"/>
            <a:ext cx="17055798" cy="47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Result: compact schema, easier maintenance, and reliable joins for analytics.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7726353" y="-1286511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19" y="0"/>
                </a:lnTo>
                <a:lnTo>
                  <a:pt x="1345319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046679" y="-1286511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19" y="0"/>
                </a:lnTo>
                <a:lnTo>
                  <a:pt x="1345319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9374" y="981075"/>
            <a:ext cx="9444871" cy="79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b="true" sz="4953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Population &amp; SQL Operations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564" y="2755859"/>
            <a:ext cx="6848894" cy="93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After cleaning, populate.py generates data.sql which inserts records into the MySQL schema.     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80565" y="4143636"/>
          <a:ext cx="6825232" cy="4316446"/>
        </p:xfrm>
        <a:graphic>
          <a:graphicData uri="http://schemas.openxmlformats.org/drawingml/2006/table">
            <a:tbl>
              <a:tblPr/>
              <a:tblGrid>
                <a:gridCol w="4087624"/>
                <a:gridCol w="2737608"/>
              </a:tblGrid>
              <a:tr h="8524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b="true" sz="2401">
                          <a:solidFill>
                            <a:srgbClr val="000000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Table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b="true" sz="2401">
                          <a:solidFill>
                            <a:srgbClr val="000000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Records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4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data1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15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data2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15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data3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4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data4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8692334" y="3103702"/>
            <a:ext cx="154305" cy="154305"/>
            <a:chOff x="0" y="0"/>
            <a:chExt cx="205740" cy="205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740" cy="205740"/>
            </a:xfrm>
            <a:custGeom>
              <a:avLst/>
              <a:gdLst/>
              <a:ahLst/>
              <a:cxnLst/>
              <a:rect r="r" b="b" t="t" l="l"/>
              <a:pathLst>
                <a:path h="205740" w="205740">
                  <a:moveTo>
                    <a:pt x="0" y="102870"/>
                  </a:moveTo>
                  <a:cubicBezTo>
                    <a:pt x="0" y="46101"/>
                    <a:pt x="46101" y="0"/>
                    <a:pt x="102870" y="0"/>
                  </a:cubicBezTo>
                  <a:cubicBezTo>
                    <a:pt x="159639" y="0"/>
                    <a:pt x="205740" y="46101"/>
                    <a:pt x="205740" y="102870"/>
                  </a:cubicBezTo>
                  <a:cubicBezTo>
                    <a:pt x="205740" y="159639"/>
                    <a:pt x="159639" y="205740"/>
                    <a:pt x="102870" y="205740"/>
                  </a:cubicBezTo>
                  <a:cubicBezTo>
                    <a:pt x="46101" y="205740"/>
                    <a:pt x="0" y="159639"/>
                    <a:pt x="0" y="102870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55392" y="2901620"/>
            <a:ext cx="4736068" cy="52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b="true" sz="3202" spc="-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SQL Features Implemented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5392" y="3572818"/>
            <a:ext cx="8075266" cy="505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984" indent="-217492" lvl="1">
              <a:lnSpc>
                <a:spcPts val="3602"/>
              </a:lnSpc>
              <a:buFont typeface="Arial"/>
              <a:buChar char="•"/>
            </a:pPr>
            <a:r>
              <a:rPr lang="en-US" b="true" sz="24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DDL: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   </a:t>
            </a: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CREATE DATABASE/TABLE + constraints</a:t>
            </a:r>
          </a:p>
          <a:p>
            <a:pPr algn="l">
              <a:lnSpc>
                <a:spcPts val="3602"/>
              </a:lnSpc>
            </a:pPr>
          </a:p>
          <a:p>
            <a:pPr algn="l" marL="434984" indent="-217492" lvl="1">
              <a:lnSpc>
                <a:spcPts val="3602"/>
              </a:lnSpc>
              <a:buFont typeface="Arial"/>
              <a:buChar char="•"/>
            </a:pPr>
            <a:r>
              <a:rPr lang="en-US" b="true" sz="24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DML:</a:t>
            </a: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     </a:t>
            </a: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INSERT / UPDATE / DELETE</a:t>
            </a:r>
          </a:p>
          <a:p>
            <a:pPr algn="l">
              <a:lnSpc>
                <a:spcPts val="3602"/>
              </a:lnSpc>
            </a:pPr>
          </a:p>
          <a:p>
            <a:pPr algn="l" marL="434984" indent="-217492" lvl="1">
              <a:lnSpc>
                <a:spcPts val="3602"/>
              </a:lnSpc>
              <a:buFont typeface="Arial"/>
              <a:buChar char="•"/>
            </a:pPr>
            <a:r>
              <a:rPr lang="en-US" b="true" sz="24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DQL: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      SELECT with ORDER BY / LIMIT</a:t>
            </a:r>
          </a:p>
          <a:p>
            <a:pPr algn="l">
              <a:lnSpc>
                <a:spcPts val="3602"/>
              </a:lnSpc>
            </a:pPr>
          </a:p>
          <a:p>
            <a:pPr algn="l" marL="434984" indent="-217492" lvl="1">
              <a:lnSpc>
                <a:spcPts val="3602"/>
              </a:lnSpc>
              <a:buFont typeface="Arial"/>
              <a:buChar char="•"/>
            </a:pPr>
            <a:r>
              <a:rPr lang="en-US" b="true" sz="24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DCL / TCL: 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       </a:t>
            </a:r>
            <a:r>
              <a:rPr lang="en-US" sz="24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GRANT, TRANSACTIONS, SAVEPOINTS, ROLLBACK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5400000">
            <a:off x="-1213086" y="-203379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5" y="0"/>
                </a:lnTo>
                <a:lnTo>
                  <a:pt x="3209175" y="2695708"/>
                </a:lnTo>
                <a:lnTo>
                  <a:pt x="0" y="2695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564" y="2725531"/>
            <a:ext cx="1389469" cy="3461918"/>
            <a:chOff x="0" y="0"/>
            <a:chExt cx="1852625" cy="461589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852676" cy="4615942"/>
            </a:xfrm>
            <a:custGeom>
              <a:avLst/>
              <a:gdLst/>
              <a:ahLst/>
              <a:cxnLst/>
              <a:rect r="r" b="b" t="t" l="l"/>
              <a:pathLst>
                <a:path h="4615942" w="1852676">
                  <a:moveTo>
                    <a:pt x="0" y="0"/>
                  </a:moveTo>
                  <a:lnTo>
                    <a:pt x="1852676" y="0"/>
                  </a:lnTo>
                  <a:lnTo>
                    <a:pt x="1852676" y="4615942"/>
                  </a:lnTo>
                  <a:lnTo>
                    <a:pt x="0" y="4615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" r="2" b="-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0564" y="6187450"/>
            <a:ext cx="1389469" cy="2388470"/>
            <a:chOff x="0" y="0"/>
            <a:chExt cx="1852625" cy="318462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852676" cy="3184652"/>
            </a:xfrm>
            <a:custGeom>
              <a:avLst/>
              <a:gdLst/>
              <a:ahLst/>
              <a:cxnLst/>
              <a:rect r="r" b="b" t="t" l="l"/>
              <a:pathLst>
                <a:path h="3184652" w="1852676">
                  <a:moveTo>
                    <a:pt x="0" y="0"/>
                  </a:moveTo>
                  <a:lnTo>
                    <a:pt x="1852676" y="0"/>
                  </a:lnTo>
                  <a:lnTo>
                    <a:pt x="1852676" y="3184652"/>
                  </a:lnTo>
                  <a:lnTo>
                    <a:pt x="0" y="3184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2" b="-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5400000">
            <a:off x="3242234" y="-1229698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20" y="0"/>
                </a:lnTo>
                <a:lnTo>
                  <a:pt x="1345320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-1013713" y="-226910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5" y="0"/>
                </a:lnTo>
                <a:lnTo>
                  <a:pt x="3209175" y="2695707"/>
                </a:lnTo>
                <a:lnTo>
                  <a:pt x="0" y="26957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1517423" y="-1253030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20" y="0"/>
                </a:lnTo>
                <a:lnTo>
                  <a:pt x="1345320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7528245" y="-1253030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20" y="0"/>
                </a:lnTo>
                <a:lnTo>
                  <a:pt x="1345320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59580" y="3910953"/>
            <a:ext cx="8171231" cy="5803798"/>
          </a:xfrm>
          <a:custGeom>
            <a:avLst/>
            <a:gdLst/>
            <a:ahLst/>
            <a:cxnLst/>
            <a:rect r="r" b="b" t="t" l="l"/>
            <a:pathLst>
              <a:path h="5803798" w="8171231">
                <a:moveTo>
                  <a:pt x="0" y="0"/>
                </a:moveTo>
                <a:lnTo>
                  <a:pt x="8171231" y="0"/>
                </a:lnTo>
                <a:lnTo>
                  <a:pt x="8171231" y="5803798"/>
                </a:lnTo>
                <a:lnTo>
                  <a:pt x="0" y="58037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283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20102" y="2965218"/>
            <a:ext cx="2389584" cy="50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076" spc="-3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 Patterns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20102" y="3552844"/>
            <a:ext cx="6091828" cy="198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108"/>
              </a:lnSpc>
              <a:buFont typeface="Arial"/>
              <a:buChar char="•"/>
            </a:pPr>
            <a:r>
              <a:rPr lang="en-US" b="true" sz="2176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INNER JOIN</a:t>
            </a:r>
            <a:r>
              <a:rPr lang="en-US" sz="217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data1 ↔ data2 (price + volatility)</a:t>
            </a:r>
          </a:p>
          <a:p>
            <a:pPr algn="l" marL="394236" indent="-197118" lvl="1">
              <a:lnSpc>
                <a:spcPts val="3108"/>
              </a:lnSpc>
              <a:buFont typeface="Arial"/>
              <a:buChar char="•"/>
            </a:pPr>
            <a:r>
              <a:rPr lang="en-US" b="true" sz="2176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INNER JOIN</a:t>
            </a:r>
            <a:r>
              <a:rPr lang="en-US" sz="217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data3 ↔ data4 (contract + OHLC)</a:t>
            </a:r>
          </a:p>
          <a:p>
            <a:pPr algn="l" marL="394236" indent="-197118" lvl="1">
              <a:lnSpc>
                <a:spcPts val="3108"/>
              </a:lnSpc>
              <a:buFont typeface="Arial"/>
              <a:buChar char="•"/>
            </a:pPr>
            <a:r>
              <a:rPr lang="en-US" b="true" sz="2176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LEFT / RIGHT / UNION</a:t>
            </a:r>
            <a:r>
              <a:rPr lang="en-US" sz="217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used to emulate FULL OUTER JOIN</a:t>
            </a:r>
          </a:p>
          <a:p>
            <a:pPr algn="l" marL="394236" indent="-197118" lvl="1">
              <a:lnSpc>
                <a:spcPts val="3108"/>
              </a:lnSpc>
              <a:buFont typeface="Arial"/>
              <a:buChar char="•"/>
            </a:pPr>
            <a:r>
              <a:rPr lang="en-US" b="true" sz="2176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SELF JOIN</a:t>
            </a:r>
            <a:r>
              <a:rPr lang="en-US" sz="217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data3 vs data3 to compare expiries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20102" y="6427137"/>
            <a:ext cx="3703439" cy="50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076" spc="-3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Correlated Subqueries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20102" y="7014762"/>
            <a:ext cx="6091828" cy="120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7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Per-record comparisons (e.g., contract trade_value vs average trade_value for same symbol; annualised volatility vs trade-date average).       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9444" y="2573988"/>
            <a:ext cx="7731366" cy="120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76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Use JOINs to combine related entities; use correlated subqueries to compare individual rows against group-level metrics for richer analytics.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9201" y="1019089"/>
            <a:ext cx="12687181" cy="78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7"/>
              </a:lnSpc>
            </a:pPr>
            <a:r>
              <a:rPr lang="en-US" b="true" sz="4878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Advanced SQL: JOINs &amp; Correlated Subqueries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080564" y="2245938"/>
            <a:ext cx="3807076" cy="3815810"/>
          </a:xfrm>
          <a:custGeom>
            <a:avLst/>
            <a:gdLst/>
            <a:ahLst/>
            <a:cxnLst/>
            <a:rect r="r" b="b" t="t" l="l"/>
            <a:pathLst>
              <a:path h="3815810" w="3807076">
                <a:moveTo>
                  <a:pt x="0" y="0"/>
                </a:moveTo>
                <a:lnTo>
                  <a:pt x="3807075" y="0"/>
                </a:lnTo>
                <a:lnTo>
                  <a:pt x="3807075" y="3815810"/>
                </a:lnTo>
                <a:lnTo>
                  <a:pt x="0" y="381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" r="0" b="-1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5061309" y="2245938"/>
            <a:ext cx="3807219" cy="3815810"/>
          </a:xfrm>
          <a:custGeom>
            <a:avLst/>
            <a:gdLst/>
            <a:ahLst/>
            <a:cxnLst/>
            <a:rect r="r" b="b" t="t" l="l"/>
            <a:pathLst>
              <a:path h="3815810" w="3807219">
                <a:moveTo>
                  <a:pt x="0" y="0"/>
                </a:moveTo>
                <a:lnTo>
                  <a:pt x="3807218" y="0"/>
                </a:lnTo>
                <a:lnTo>
                  <a:pt x="3807218" y="3815810"/>
                </a:lnTo>
                <a:lnTo>
                  <a:pt x="0" y="381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" r="0" b="-12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1080564" y="6235408"/>
            <a:ext cx="7787964" cy="2600420"/>
          </a:xfrm>
          <a:custGeom>
            <a:avLst/>
            <a:gdLst/>
            <a:ahLst/>
            <a:cxnLst/>
            <a:rect r="r" b="b" t="t" l="l"/>
            <a:pathLst>
              <a:path h="2600420" w="7787964">
                <a:moveTo>
                  <a:pt x="0" y="0"/>
                </a:moveTo>
                <a:lnTo>
                  <a:pt x="7787963" y="0"/>
                </a:lnTo>
                <a:lnTo>
                  <a:pt x="7787963" y="2600420"/>
                </a:lnTo>
                <a:lnTo>
                  <a:pt x="0" y="2600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58" r="0" b="-158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442847" y="2245938"/>
            <a:ext cx="7787964" cy="1035758"/>
            <a:chOff x="0" y="0"/>
            <a:chExt cx="10383952" cy="1381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84028" cy="1380998"/>
            </a:xfrm>
            <a:custGeom>
              <a:avLst/>
              <a:gdLst/>
              <a:ahLst/>
              <a:cxnLst/>
              <a:rect r="r" b="b" t="t" l="l"/>
              <a:pathLst>
                <a:path h="1380998" w="10384028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10337673" y="0"/>
                  </a:lnTo>
                  <a:cubicBezTo>
                    <a:pt x="10363200" y="0"/>
                    <a:pt x="10384028" y="20701"/>
                    <a:pt x="10384028" y="46355"/>
                  </a:cubicBezTo>
                  <a:lnTo>
                    <a:pt x="10384028" y="1334643"/>
                  </a:lnTo>
                  <a:cubicBezTo>
                    <a:pt x="10384028" y="1360170"/>
                    <a:pt x="10363327" y="1380998"/>
                    <a:pt x="10337673" y="1380998"/>
                  </a:cubicBezTo>
                  <a:lnTo>
                    <a:pt x="46355" y="1380998"/>
                  </a:lnTo>
                  <a:cubicBezTo>
                    <a:pt x="20828" y="1380998"/>
                    <a:pt x="0" y="1360297"/>
                    <a:pt x="0" y="1334643"/>
                  </a:cubicBezTo>
                  <a:close/>
                </a:path>
              </a:pathLst>
            </a:custGeom>
            <a:solidFill>
              <a:srgbClr val="E4E4E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74295" y="2494074"/>
            <a:ext cx="289389" cy="231458"/>
            <a:chOff x="0" y="0"/>
            <a:chExt cx="385851" cy="30861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85826" cy="308610"/>
            </a:xfrm>
            <a:custGeom>
              <a:avLst/>
              <a:gdLst/>
              <a:ahLst/>
              <a:cxnLst/>
              <a:rect r="r" b="b" t="t" l="l"/>
              <a:pathLst>
                <a:path h="308610" w="385826">
                  <a:moveTo>
                    <a:pt x="0" y="0"/>
                  </a:moveTo>
                  <a:lnTo>
                    <a:pt x="385826" y="0"/>
                  </a:lnTo>
                  <a:lnTo>
                    <a:pt x="385826" y="308610"/>
                  </a:lnTo>
                  <a:lnTo>
                    <a:pt x="0" y="308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15" r="-6" b="-415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-5400000">
            <a:off x="2764318" y="-1288810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20" y="0"/>
                </a:lnTo>
                <a:lnTo>
                  <a:pt x="1345320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-1331042" y="-319154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6" y="0"/>
                </a:lnTo>
                <a:lnTo>
                  <a:pt x="3209176" y="2695708"/>
                </a:lnTo>
                <a:lnTo>
                  <a:pt x="0" y="2695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7536435" y="-1288810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20" y="0"/>
                </a:lnTo>
                <a:lnTo>
                  <a:pt x="1345320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484593" y="3534605"/>
            <a:ext cx="7774707" cy="3030627"/>
          </a:xfrm>
          <a:custGeom>
            <a:avLst/>
            <a:gdLst/>
            <a:ahLst/>
            <a:cxnLst/>
            <a:rect r="r" b="b" t="t" l="l"/>
            <a:pathLst>
              <a:path h="3030627" w="7774707">
                <a:moveTo>
                  <a:pt x="0" y="0"/>
                </a:moveTo>
                <a:lnTo>
                  <a:pt x="7774707" y="0"/>
                </a:lnTo>
                <a:lnTo>
                  <a:pt x="7774707" y="3030627"/>
                </a:lnTo>
                <a:lnTo>
                  <a:pt x="0" y="3030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79885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484593" y="6824811"/>
            <a:ext cx="7774707" cy="3223592"/>
          </a:xfrm>
          <a:custGeom>
            <a:avLst/>
            <a:gdLst/>
            <a:ahLst/>
            <a:cxnLst/>
            <a:rect r="r" b="b" t="t" l="l"/>
            <a:pathLst>
              <a:path h="3223592" w="7774707">
                <a:moveTo>
                  <a:pt x="0" y="0"/>
                </a:moveTo>
                <a:lnTo>
                  <a:pt x="7774707" y="0"/>
                </a:lnTo>
                <a:lnTo>
                  <a:pt x="7774707" y="3223593"/>
                </a:lnTo>
                <a:lnTo>
                  <a:pt x="0" y="32235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9320" r="0" b="-5392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40615" y="3134116"/>
            <a:ext cx="866894" cy="45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b="true" sz="2726" spc="-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615" y="3617605"/>
            <a:ext cx="3286973" cy="180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18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vw_volatility_report (data1 + data2): reusable volatility dataset. </a:t>
            </a:r>
          </a:p>
          <a:p>
            <a:pPr algn="l">
              <a:lnSpc>
                <a:spcPts val="2356"/>
              </a:lnSpc>
            </a:pPr>
            <a:r>
              <a:rPr lang="en-US" sz="18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vw_derivative_summary (data3 + data4): grouped summaries with COUNT, SUM, AVG.        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21360" y="3134116"/>
            <a:ext cx="2548295" cy="45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b="true" sz="2726" spc="-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Procedure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21360" y="3617605"/>
            <a:ext cx="3287125" cy="20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18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sp_symbol_report(p_symbol): returns contract count, first/last expiry, total trade value and average close for a given symbol (e.g., CALL sp_symbol_report('BANKNIFTY')).        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0615" y="7123595"/>
            <a:ext cx="1109424" cy="45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b="true" sz="2726" spc="-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Trigger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0615" y="7607084"/>
            <a:ext cx="7267861" cy="91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18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    trg_data4_price_audit: AFTER UPDATE on data4; when close_price changes, inserts an audit row into data4_audit with old/new values and timestamp.        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95141" y="2402815"/>
            <a:ext cx="6804212" cy="67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0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These constructs improve reusability, encapsulate business rules, and provide automated auditability for price updates.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0564" y="964638"/>
            <a:ext cx="9440228" cy="81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3"/>
              </a:lnSpc>
            </a:pPr>
            <a:r>
              <a:rPr lang="en-US" b="true" sz="5002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Views, Stored Procedure &amp; Trigger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2136248"/>
            <a:ext cx="8555307" cy="96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5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      Targeted indexes were created on commonly filtered and joined columns to reduce scan costs and accelerate analytics.     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80565" y="3413727"/>
          <a:ext cx="8541073" cy="5718175"/>
        </p:xfrm>
        <a:graphic>
          <a:graphicData uri="http://schemas.openxmlformats.org/drawingml/2006/table">
            <a:tbl>
              <a:tblPr/>
              <a:tblGrid>
                <a:gridCol w="5117097"/>
                <a:gridCol w="3423975"/>
              </a:tblGrid>
              <a:tr h="8687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b="true" sz="2251">
                          <a:solidFill>
                            <a:srgbClr val="000000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Index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b="true" sz="2251">
                          <a:solidFill>
                            <a:srgbClr val="000000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23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idx_data1_symbol_date (data1.symbol, trade_date)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Fast symbol-date lookups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</a:tr>
              <a:tr h="12123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idx_data2_annualised_volatility (data2.annualised_volatility)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Volatility filters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23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idx_data3_symbol_expiry (data3.symbol, expiry_date)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Expiry &amp; contract searches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12123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idx_data3_trade_value (data3.trade_value)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000000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High trade-value queries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0360914" y="2469051"/>
            <a:ext cx="146561" cy="146561"/>
            <a:chOff x="0" y="0"/>
            <a:chExt cx="195415" cy="1954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326" cy="195326"/>
            </a:xfrm>
            <a:custGeom>
              <a:avLst/>
              <a:gdLst/>
              <a:ahLst/>
              <a:cxnLst/>
              <a:rect r="r" b="b" t="t" l="l"/>
              <a:pathLst>
                <a:path h="195326" w="195326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cubicBezTo>
                    <a:pt x="151638" y="0"/>
                    <a:pt x="195326" y="43688"/>
                    <a:pt x="195326" y="97663"/>
                  </a:cubicBezTo>
                  <a:cubicBezTo>
                    <a:pt x="195326" y="151638"/>
                    <a:pt x="151638" y="195326"/>
                    <a:pt x="97663" y="195326"/>
                  </a:cubicBezTo>
                  <a:cubicBezTo>
                    <a:pt x="43688" y="195326"/>
                    <a:pt x="0" y="151638"/>
                    <a:pt x="0" y="9766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85996" y="2275161"/>
            <a:ext cx="4145637" cy="53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3251" spc="-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Optimization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5996" y="2903601"/>
            <a:ext cx="6444663" cy="2260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052" indent="-222026" lvl="1">
              <a:lnSpc>
                <a:spcPts val="3589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Add indexes on JOIN / WHERE columns</a:t>
            </a:r>
          </a:p>
          <a:p>
            <a:pPr algn="l" marL="444052" indent="-222026" lvl="1">
              <a:lnSpc>
                <a:spcPts val="3589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Run EXPLAIN to inspect access methods and estimated rows</a:t>
            </a:r>
          </a:p>
          <a:p>
            <a:pPr algn="l" marL="444052" indent="-222026" lvl="1">
              <a:lnSpc>
                <a:spcPts val="3589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Iteratively refine queries and indexes to reduce execution cost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360914" y="6060253"/>
            <a:ext cx="146561" cy="146561"/>
            <a:chOff x="0" y="0"/>
            <a:chExt cx="195415" cy="1954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326" cy="195326"/>
            </a:xfrm>
            <a:custGeom>
              <a:avLst/>
              <a:gdLst/>
              <a:ahLst/>
              <a:cxnLst/>
              <a:rect r="r" b="b" t="t" l="l"/>
              <a:pathLst>
                <a:path h="195326" w="195326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cubicBezTo>
                    <a:pt x="151638" y="0"/>
                    <a:pt x="195326" y="43688"/>
                    <a:pt x="195326" y="97663"/>
                  </a:cubicBezTo>
                  <a:cubicBezTo>
                    <a:pt x="195326" y="151638"/>
                    <a:pt x="151638" y="195326"/>
                    <a:pt x="97663" y="195326"/>
                  </a:cubicBezTo>
                  <a:cubicBezTo>
                    <a:pt x="43688" y="195326"/>
                    <a:pt x="0" y="151638"/>
                    <a:pt x="0" y="9766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85996" y="5866362"/>
            <a:ext cx="1717596" cy="53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3251" spc="-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Point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85996" y="6494802"/>
            <a:ext cx="6444663" cy="136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</a:pPr>
            <a:r>
              <a:rPr lang="en-US" sz="245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Proper indexing dramatically reduces scanned rows and improves response time for analytical queries.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5400000">
            <a:off x="2728827" y="-1442035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19" y="0"/>
                </a:lnTo>
                <a:lnTo>
                  <a:pt x="1345319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-1466542" y="-483390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6" y="0"/>
                </a:lnTo>
                <a:lnTo>
                  <a:pt x="3209176" y="2695707"/>
                </a:lnTo>
                <a:lnTo>
                  <a:pt x="0" y="26957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7070896" y="-1427075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20" y="0"/>
                </a:lnTo>
                <a:lnTo>
                  <a:pt x="1345320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1412966" y="-1412116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19" y="0"/>
                </a:lnTo>
                <a:lnTo>
                  <a:pt x="1345319" y="5381278"/>
                </a:lnTo>
                <a:lnTo>
                  <a:pt x="0" y="5381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92104" y="816839"/>
            <a:ext cx="12908161" cy="78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5"/>
              </a:lnSpc>
            </a:pPr>
            <a:r>
              <a:rPr lang="en-US" b="true" sz="4828" spc="-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Indexing &amp; Query Optimization — Key Outcomes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717216" y="-1230076"/>
            <a:ext cx="1345319" cy="5381277"/>
          </a:xfrm>
          <a:custGeom>
            <a:avLst/>
            <a:gdLst/>
            <a:ahLst/>
            <a:cxnLst/>
            <a:rect r="r" b="b" t="t" l="l"/>
            <a:pathLst>
              <a:path h="5381277" w="1345319">
                <a:moveTo>
                  <a:pt x="0" y="0"/>
                </a:moveTo>
                <a:lnTo>
                  <a:pt x="1345319" y="0"/>
                </a:lnTo>
                <a:lnTo>
                  <a:pt x="1345319" y="5381277"/>
                </a:lnTo>
                <a:lnTo>
                  <a:pt x="0" y="5381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564" y="627175"/>
            <a:ext cx="4539572" cy="13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0"/>
              </a:lnSpc>
            </a:pPr>
            <a:r>
              <a:rPr lang="en-US" sz="74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</a:t>
            </a:r>
            <a:r>
              <a:rPr lang="en-US" b="true" sz="74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-1436556" y="-279333"/>
            <a:ext cx="3209176" cy="2695707"/>
          </a:xfrm>
          <a:custGeom>
            <a:avLst/>
            <a:gdLst/>
            <a:ahLst/>
            <a:cxnLst/>
            <a:rect r="r" b="b" t="t" l="l"/>
            <a:pathLst>
              <a:path h="2695707" w="3209176">
                <a:moveTo>
                  <a:pt x="0" y="0"/>
                </a:moveTo>
                <a:lnTo>
                  <a:pt x="3209175" y="0"/>
                </a:lnTo>
                <a:lnTo>
                  <a:pt x="3209175" y="2695708"/>
                </a:lnTo>
                <a:lnTo>
                  <a:pt x="0" y="2695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237" y="7520699"/>
            <a:ext cx="4291224" cy="2343580"/>
          </a:xfrm>
          <a:custGeom>
            <a:avLst/>
            <a:gdLst/>
            <a:ahLst/>
            <a:cxnLst/>
            <a:rect r="r" b="b" t="t" l="l"/>
            <a:pathLst>
              <a:path h="2343580" w="4291224">
                <a:moveTo>
                  <a:pt x="0" y="0"/>
                </a:moveTo>
                <a:lnTo>
                  <a:pt x="4291224" y="0"/>
                </a:lnTo>
                <a:lnTo>
                  <a:pt x="4291224" y="2343580"/>
                </a:lnTo>
                <a:lnTo>
                  <a:pt x="0" y="234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3105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9237" y="2587384"/>
            <a:ext cx="9867184" cy="419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the project </a:t>
            </a:r>
            <a:r>
              <a:rPr lang="en-US" sz="3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demonstrates?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Raw NSE F&amp;O datasets are cleaned and converted into a normalized MySQL database. The implementation then demonstrates relational queries, reusable views, a stored procedure, an audit trigger, indexing and verification.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9237" y="7434974"/>
            <a:ext cx="3839569" cy="17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atabase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MySQL 8.x Database: fno_tae2_db</a:t>
            </a:r>
            <a:r>
              <a:rPr lang="en-US" sz="33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4761" y="7434974"/>
            <a:ext cx="3839569" cy="17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tables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data1    • data2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• data3    • data4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8629" y="7165871"/>
            <a:ext cx="5360671" cy="209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29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SQL</a:t>
            </a:r>
            <a:r>
              <a:rPr lang="en-US" b="true" sz="29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features</a:t>
            </a:r>
          </a:p>
          <a:p>
            <a:pPr algn="ctr">
              <a:lnSpc>
                <a:spcPts val="4147"/>
              </a:lnSpc>
            </a:pPr>
            <a:r>
              <a:rPr lang="en-US" sz="2962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962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JOIN • correlated queries • views • procedure • trigger </a:t>
            </a:r>
          </a:p>
          <a:p>
            <a:pPr algn="ctr">
              <a:lnSpc>
                <a:spcPts val="4147"/>
              </a:lnSpc>
            </a:pPr>
            <a:r>
              <a:rPr lang="en-US" sz="2962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• indexes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96293" y="3516389"/>
            <a:ext cx="5410851" cy="138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3"/>
              </a:lnSpc>
            </a:pPr>
            <a:r>
              <a:rPr lang="en-US" sz="791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524761" y="7520699"/>
            <a:ext cx="4291224" cy="2343580"/>
          </a:xfrm>
          <a:custGeom>
            <a:avLst/>
            <a:gdLst/>
            <a:ahLst/>
            <a:cxnLst/>
            <a:rect r="r" b="b" t="t" l="l"/>
            <a:pathLst>
              <a:path h="2343580" w="4291224">
                <a:moveTo>
                  <a:pt x="0" y="0"/>
                </a:moveTo>
                <a:lnTo>
                  <a:pt x="4291224" y="0"/>
                </a:lnTo>
                <a:lnTo>
                  <a:pt x="4291224" y="2343580"/>
                </a:lnTo>
                <a:lnTo>
                  <a:pt x="0" y="234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310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98629" y="7242071"/>
            <a:ext cx="5898629" cy="2343580"/>
          </a:xfrm>
          <a:custGeom>
            <a:avLst/>
            <a:gdLst/>
            <a:ahLst/>
            <a:cxnLst/>
            <a:rect r="r" b="b" t="t" l="l"/>
            <a:pathLst>
              <a:path h="2343580" w="5898629">
                <a:moveTo>
                  <a:pt x="0" y="0"/>
                </a:moveTo>
                <a:lnTo>
                  <a:pt x="5898629" y="0"/>
                </a:lnTo>
                <a:lnTo>
                  <a:pt x="5898629" y="2343580"/>
                </a:lnTo>
                <a:lnTo>
                  <a:pt x="0" y="234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3840" r="0" b="-785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DAHWE5tmedM</dc:identifier>
  <dcterms:modified xsi:type="dcterms:W3CDTF">2011-08-01T06:04:30Z</dcterms:modified>
  <cp:revision>1</cp:revision>
  <dc:title>Futures-and-Options-Trading-Volatility-and-Settlement-Management-Database-System.pptx</dc:title>
</cp:coreProperties>
</file>